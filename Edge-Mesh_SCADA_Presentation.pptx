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113727"/>
            <a:ext cx="71437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Edge-Mesh SCADA: A Secure, Local-First Industrial IoT Framework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540496" y="3351116"/>
            <a:ext cx="406300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Vedant Jadhav | Prasad Kale | Sooraj Nair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540496" y="3629723"/>
            <a:ext cx="40630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1D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Electrical and Electronics Engineering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540496" y="3874396"/>
            <a:ext cx="406300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Vishwanath Karad MIT World Peace University, Pune [2025-26]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PROBLEM STATEMENT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481" y="2412802"/>
            <a:ext cx="1428750" cy="142875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430536"/>
            <a:ext cx="89297" cy="14287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197078" y="1393031"/>
            <a:ext cx="192524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High Cost &amp; Complexity</a:t>
            </a:r>
            <a:endParaRPr lang="en-US" sz="1250" dirty="0"/>
          </a:p>
        </p:txBody>
      </p:sp>
      <p:sp>
        <p:nvSpPr>
          <p:cNvPr id="7" name="Text 2"/>
          <p:cNvSpPr/>
          <p:nvPr/>
        </p:nvSpPr>
        <p:spPr>
          <a:xfrm>
            <a:off x="5000625" y="1668066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PLCs and SCADA software are prohibitively expensive for small-to-medium enterprises (SMEs).</a:t>
            </a:r>
            <a:endParaRPr lang="en-US" sz="950" dirty="0"/>
          </a:p>
        </p:txBody>
      </p:sp>
      <p:sp>
        <p:nvSpPr>
          <p:cNvPr id="8" name="Text 3"/>
          <p:cNvSpPr/>
          <p:nvPr/>
        </p:nvSpPr>
        <p:spPr>
          <a:xfrm>
            <a:off x="5107781" y="2268141"/>
            <a:ext cx="156805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Cloud Dependency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5000625" y="2543175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Reliance on external servers introduces latency and reliability issues when internet connectivity is unstable.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3180755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50656" y="3143250"/>
            <a:ext cx="192702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Security Vulnerabilities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5000625" y="3418284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IoT implementations lack "Defense-in-Depth," leaving networks exposed to unauthorized access and IP spoofing.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4055864"/>
            <a:ext cx="142875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50656" y="4018359"/>
            <a:ext cx="1593056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Retrofit Challenges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5000625" y="4293394"/>
            <a:ext cx="3714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solutions often require intrusive modifications to legacy machine firmware or electronics.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0" y="1000125"/>
            <a:ext cx="9144000" cy="4143375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000125"/>
            <a:ext cx="3038466" cy="2064544"/>
          </a:xfrm>
          <a:prstGeom prst="rect">
            <a:avLst/>
          </a:prstGeom>
          <a:solidFill>
            <a:srgbClr val="0B132B"/>
          </a:solidFill>
          <a:ln w="9144">
            <a:solidFill>
              <a:srgbClr val="00FFCC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1266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5750" y="1775222"/>
            <a:ext cx="2466966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Non-Intrusive Retrofit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85750" y="2084189"/>
            <a:ext cx="24669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existing industrial infrastructure with smart factory capabilities without major hardware modifications.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052753" y="1000125"/>
            <a:ext cx="3038466" cy="2064544"/>
          </a:xfrm>
          <a:prstGeom prst="rect">
            <a:avLst/>
          </a:prstGeom>
          <a:solidFill>
            <a:srgbClr val="0B132B"/>
          </a:solidFill>
          <a:ln w="9144">
            <a:solidFill>
              <a:srgbClr val="00FFCC">
                <a:alpha val="1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03" y="1312664"/>
            <a:ext cx="285750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38503" y="1775222"/>
            <a:ext cx="2466966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Edge Computing Hub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338503" y="2084189"/>
            <a:ext cx="24669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Raspberry Pi 5 as a local gateway hosting MQTT, Node-RED, Fuxa SCADA, and InfluxDB.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6105506" y="1000125"/>
            <a:ext cx="3038494" cy="2064544"/>
          </a:xfrm>
          <a:prstGeom prst="rect">
            <a:avLst/>
          </a:prstGeom>
          <a:solidFill>
            <a:srgbClr val="0B132B"/>
          </a:solidFill>
          <a:ln w="9144">
            <a:solidFill>
              <a:srgbClr val="00FFCC">
                <a:alpha val="10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56" y="1312664"/>
            <a:ext cx="357188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91256" y="1775222"/>
            <a:ext cx="2466994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Wireless Mesh Network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391256" y="2084189"/>
            <a:ext cx="246699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self-healing ESP-MESH topology for flexible and scalable sensor node deployment.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0" y="3078956"/>
            <a:ext cx="3038466" cy="2064544"/>
          </a:xfrm>
          <a:prstGeom prst="rect">
            <a:avLst/>
          </a:prstGeom>
          <a:solidFill>
            <a:srgbClr val="0B132B"/>
          </a:solidFill>
          <a:ln w="9144">
            <a:solidFill>
              <a:srgbClr val="00FFCC">
                <a:alpha val="1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391495"/>
            <a:ext cx="250031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85750" y="3854053"/>
            <a:ext cx="2466966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Multi-Pipeline Data Flow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285750" y="4163020"/>
            <a:ext cx="24669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telemetry to local persistence (InfluxDB) and cloud-accessible live dashboards (Firebase).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3052753" y="3078956"/>
            <a:ext cx="3038466" cy="2064544"/>
          </a:xfrm>
          <a:prstGeom prst="rect">
            <a:avLst/>
          </a:prstGeom>
          <a:solidFill>
            <a:srgbClr val="0B132B"/>
          </a:solidFill>
          <a:ln w="9144">
            <a:solidFill>
              <a:srgbClr val="00FFCC">
                <a:alpha val="1000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8503" y="3391495"/>
            <a:ext cx="357188" cy="2857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338503" y="3854053"/>
            <a:ext cx="2466966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Security Hardening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3338503" y="4163020"/>
            <a:ext cx="24669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 3-layer protection protocol (Auth, Encryption, Firewall) for industrial-grade stability.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6105506" y="3078956"/>
            <a:ext cx="3038494" cy="2064544"/>
          </a:xfrm>
          <a:prstGeom prst="rect">
            <a:avLst/>
          </a:prstGeom>
          <a:solidFill>
            <a:srgbClr val="0B132B">
              <a:alpha val="30000"/>
            </a:srgbClr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3284" y="3825478"/>
            <a:ext cx="642938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857250"/>
            <a:ext cx="8286750" cy="857250"/>
          </a:xfrm>
          <a:prstGeom prst="rect">
            <a:avLst/>
          </a:prstGeom>
          <a:solidFill>
            <a:srgbClr val="47A8BD">
              <a:alpha val="5000"/>
            </a:srgbClr>
          </a:solidFill>
          <a:ln w="9144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8625" y="857250"/>
            <a:ext cx="1785938" cy="857250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207419" y="857250"/>
            <a:ext cx="7144" cy="857250"/>
          </a:xfrm>
          <a:prstGeom prst="rect">
            <a:avLst/>
          </a:prstGeom>
          <a:solidFill>
            <a:srgbClr val="CCFFF5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857250"/>
            <a:ext cx="1785938" cy="8572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Remote Layer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214563" y="857250"/>
            <a:ext cx="4714875" cy="85725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Firebase Dashboard, Chronograph, Remote Diagnostics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929438" y="857250"/>
            <a:ext cx="1785938" cy="857250"/>
          </a:xfrm>
          <a:prstGeom prst="rect">
            <a:avLst/>
          </a:prstGeom>
          <a:solidFill>
            <a:srgbClr val="FF3366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929438" y="857250"/>
            <a:ext cx="7144" cy="857250"/>
          </a:xfrm>
          <a:prstGeom prst="rect">
            <a:avLst/>
          </a:prstGeom>
          <a:solidFill>
            <a:srgbClr val="FFD6E0"/>
          </a:solidFill>
          <a:ln/>
        </p:spPr>
      </p:sp>
      <p:sp>
        <p:nvSpPr>
          <p:cNvPr id="11" name="Text 8"/>
          <p:cNvSpPr/>
          <p:nvPr/>
        </p:nvSpPr>
        <p:spPr>
          <a:xfrm>
            <a:off x="6929438" y="857250"/>
            <a:ext cx="178593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HTTPS / ngrok Tunnel</a:t>
            </a:r>
            <a:endParaRPr lang="en-US" sz="7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281" y="1785938"/>
            <a:ext cx="71438" cy="14287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8625" y="1928813"/>
            <a:ext cx="8286750" cy="857250"/>
          </a:xfrm>
          <a:prstGeom prst="rect">
            <a:avLst/>
          </a:prstGeom>
          <a:solidFill>
            <a:srgbClr val="47A8BD">
              <a:alpha val="5000"/>
            </a:srgbClr>
          </a:solidFill>
          <a:ln w="9144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8625" y="1928813"/>
            <a:ext cx="1785938" cy="857250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2207419" y="1928813"/>
            <a:ext cx="7144" cy="857250"/>
          </a:xfrm>
          <a:prstGeom prst="rect">
            <a:avLst/>
          </a:prstGeom>
          <a:solidFill>
            <a:srgbClr val="CCFFF5"/>
          </a:solidFill>
          <a:ln/>
        </p:spPr>
      </p:sp>
      <p:sp>
        <p:nvSpPr>
          <p:cNvPr id="16" name="Text 12"/>
          <p:cNvSpPr/>
          <p:nvPr/>
        </p:nvSpPr>
        <p:spPr>
          <a:xfrm>
            <a:off x="428625" y="1928813"/>
            <a:ext cx="1785938" cy="8572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Application Layer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214563" y="1928813"/>
            <a:ext cx="4714875" cy="85725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Node-RED Orchestration, Fuxa SCADA, InfluxDB, FastAPI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929438" y="1928813"/>
            <a:ext cx="1785938" cy="857250"/>
          </a:xfrm>
          <a:prstGeom prst="rect">
            <a:avLst/>
          </a:prstGeom>
          <a:solidFill>
            <a:srgbClr val="FF3366">
              <a:alpha val="1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6929438" y="1928813"/>
            <a:ext cx="7144" cy="857250"/>
          </a:xfrm>
          <a:prstGeom prst="rect">
            <a:avLst/>
          </a:prstGeom>
          <a:solidFill>
            <a:srgbClr val="FFD6E0"/>
          </a:solidFill>
          <a:ln/>
        </p:spPr>
      </p:sp>
      <p:sp>
        <p:nvSpPr>
          <p:cNvPr id="20" name="Text 16"/>
          <p:cNvSpPr/>
          <p:nvPr/>
        </p:nvSpPr>
        <p:spPr>
          <a:xfrm>
            <a:off x="6929438" y="1928813"/>
            <a:ext cx="178593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MQTT / WebSocket / REST</a:t>
            </a:r>
            <a:endParaRPr lang="en-US" sz="7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281" y="2857500"/>
            <a:ext cx="71438" cy="14287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28625" y="3000375"/>
            <a:ext cx="8286750" cy="857250"/>
          </a:xfrm>
          <a:prstGeom prst="rect">
            <a:avLst/>
          </a:prstGeom>
          <a:solidFill>
            <a:srgbClr val="47A8BD">
              <a:alpha val="5000"/>
            </a:srgbClr>
          </a:solidFill>
          <a:ln w="9144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28625" y="3000375"/>
            <a:ext cx="1785938" cy="857250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2207419" y="3000375"/>
            <a:ext cx="7144" cy="857250"/>
          </a:xfrm>
          <a:prstGeom prst="rect">
            <a:avLst/>
          </a:prstGeom>
          <a:solidFill>
            <a:srgbClr val="CCFFF5"/>
          </a:solidFill>
          <a:ln/>
        </p:spPr>
      </p:sp>
      <p:sp>
        <p:nvSpPr>
          <p:cNvPr id="25" name="Text 20"/>
          <p:cNvSpPr/>
          <p:nvPr/>
        </p:nvSpPr>
        <p:spPr>
          <a:xfrm>
            <a:off x="428625" y="3000375"/>
            <a:ext cx="1785938" cy="8572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Edge Hub Layer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14563" y="3000375"/>
            <a:ext cx="4714875" cy="85725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Raspberry Pi 5 (Local Gateway &amp; Access Point)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929438" y="3000375"/>
            <a:ext cx="1785938" cy="857250"/>
          </a:xfrm>
          <a:prstGeom prst="rect">
            <a:avLst/>
          </a:prstGeom>
          <a:solidFill>
            <a:srgbClr val="FF3366">
              <a:alpha val="10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6929438" y="3000375"/>
            <a:ext cx="7144" cy="857250"/>
          </a:xfrm>
          <a:prstGeom prst="rect">
            <a:avLst/>
          </a:prstGeom>
          <a:solidFill>
            <a:srgbClr val="FFD6E0"/>
          </a:solidFill>
          <a:ln/>
        </p:spPr>
      </p:sp>
      <p:sp>
        <p:nvSpPr>
          <p:cNvPr id="29" name="Text 24"/>
          <p:cNvSpPr/>
          <p:nvPr/>
        </p:nvSpPr>
        <p:spPr>
          <a:xfrm>
            <a:off x="6929438" y="3000375"/>
            <a:ext cx="178593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TCP/IP / Wi-Fi</a:t>
            </a:r>
            <a:endParaRPr lang="en-US" sz="7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281" y="3929063"/>
            <a:ext cx="71438" cy="14287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428625" y="4071938"/>
            <a:ext cx="8286750" cy="857250"/>
          </a:xfrm>
          <a:prstGeom prst="rect">
            <a:avLst/>
          </a:prstGeom>
          <a:solidFill>
            <a:srgbClr val="47A8BD">
              <a:alpha val="5000"/>
            </a:srgbClr>
          </a:solidFill>
          <a:ln w="9144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28625" y="4071938"/>
            <a:ext cx="1785938" cy="857250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33" name="Shape 27"/>
          <p:cNvSpPr/>
          <p:nvPr/>
        </p:nvSpPr>
        <p:spPr>
          <a:xfrm>
            <a:off x="2207419" y="4071938"/>
            <a:ext cx="7144" cy="857250"/>
          </a:xfrm>
          <a:prstGeom prst="rect">
            <a:avLst/>
          </a:prstGeom>
          <a:solidFill>
            <a:srgbClr val="CCFFF5"/>
          </a:solidFill>
          <a:ln/>
        </p:spPr>
      </p:sp>
      <p:sp>
        <p:nvSpPr>
          <p:cNvPr id="34" name="Text 28"/>
          <p:cNvSpPr/>
          <p:nvPr/>
        </p:nvSpPr>
        <p:spPr>
          <a:xfrm>
            <a:off x="428625" y="4071938"/>
            <a:ext cx="1785938" cy="8572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Physical Layer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2214563" y="4071938"/>
            <a:ext cx="4714875" cy="85725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Machines, ESP32 Mesh Nodes, Arduino RS485 Bridge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6929438" y="4071938"/>
            <a:ext cx="1785938" cy="857250"/>
          </a:xfrm>
          <a:prstGeom prst="rect">
            <a:avLst/>
          </a:prstGeom>
          <a:solidFill>
            <a:srgbClr val="FF3366">
              <a:alpha val="10000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6929438" y="4071938"/>
            <a:ext cx="7144" cy="857250"/>
          </a:xfrm>
          <a:prstGeom prst="rect">
            <a:avLst/>
          </a:prstGeom>
          <a:solidFill>
            <a:srgbClr val="FFD6E0"/>
          </a:solidFill>
          <a:ln/>
        </p:spPr>
      </p:sp>
      <p:sp>
        <p:nvSpPr>
          <p:cNvPr id="38" name="Text 32"/>
          <p:cNvSpPr/>
          <p:nvPr/>
        </p:nvSpPr>
        <p:spPr>
          <a:xfrm>
            <a:off x="6929438" y="4071938"/>
            <a:ext cx="178593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RS485 / UART / ESP-MESH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HARDWARE &amp; NETWORK INFRASTRUCTURE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857250"/>
            <a:ext cx="27717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7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HUB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8625" y="1014413"/>
            <a:ext cx="27717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Raspberry Pi 5 (8GB RAM)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8625" y="1348383"/>
            <a:ext cx="27717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7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GATEWAY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28625" y="1505545"/>
            <a:ext cx="27717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RaspAP Managed Subnet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8625" y="1839516"/>
            <a:ext cx="27717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7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IP ADDRESS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28625" y="1996678"/>
            <a:ext cx="27717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10.3.141.1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8625" y="2330648"/>
            <a:ext cx="27717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7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NODES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28625" y="2487811"/>
            <a:ext cx="27717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(Wi-Fi &amp; Mesh)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8625" y="2821781"/>
            <a:ext cx="27717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7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BRIDGE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28625" y="2978944"/>
            <a:ext cx="27717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Arduino Uno + MAX485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031" y="1444823"/>
            <a:ext cx="5000625" cy="28575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6851" y="4409480"/>
            <a:ext cx="274498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Live RaspAP Dashboard: Managing 5 WLAN Clients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CONTAINERIZED SOFTWARE STACK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857250"/>
            <a:ext cx="38576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IOTstack Deployment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28625" y="1039416"/>
            <a:ext cx="3857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0E1D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Docker-based orchestration for seamless service management on Raspberry Pi.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28625" y="1518047"/>
            <a:ext cx="38576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Mosquitto &amp; InfluxDB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28625" y="1700213"/>
            <a:ext cx="38576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Messaging &amp; Time-Series Storage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8625" y="2059186"/>
            <a:ext cx="38576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Node-RED &amp; Fuxa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8625" y="2241352"/>
            <a:ext cx="38576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&amp; SCADA Visualization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2600325"/>
            <a:ext cx="38576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Grafana &amp; Chronograf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8625" y="2782491"/>
            <a:ext cx="38576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 Monitoring Dashboards</a:t>
            </a:r>
            <a:endParaRPr lang="en-US" sz="8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66230"/>
            <a:ext cx="4143375" cy="32146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3469" y="4588073"/>
            <a:ext cx="350043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Terminal: Docker Compose Service Status (All Systems Nominal)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METHODOLOGY &amp; ORCHESTRATION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857250"/>
            <a:ext cx="2414588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PHASE 1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984052"/>
            <a:ext cx="24145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Infrastructure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8625" y="1246584"/>
            <a:ext cx="2414588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PHASE 2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28625" y="1373386"/>
            <a:ext cx="24145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ESP-MESH Network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8625" y="1635919"/>
            <a:ext cx="2414588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PHASE 3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28625" y="1762720"/>
            <a:ext cx="24145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Node-RED Logic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8625" y="2025253"/>
            <a:ext cx="2414588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PHASE 4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28625" y="2152055"/>
            <a:ext cx="24145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SCADA &amp; Cloud Sync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8625" y="2414588"/>
            <a:ext cx="2414588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PHASE 5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28625" y="2541389"/>
            <a:ext cx="24145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Hardening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844" y="1266230"/>
            <a:ext cx="5357813" cy="32146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93381" y="4588073"/>
            <a:ext cx="361473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Node-RED Flow: MQTT Ingestion, InfluxDB Storage &amp; Firebase Push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SECURITY: 3-LAYER PROTECTION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431429"/>
            <a:ext cx="757684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01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048" y="1431429"/>
            <a:ext cx="428625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78189" y="1306776"/>
            <a:ext cx="663718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Authentication (Auth)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2078189" y="1633603"/>
            <a:ext cx="663718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MQTT Username/Password authentication prevents unauthorized messaging and ensures only verified nodes can publish or subscribe to telemetry topics.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28625" y="2645866"/>
            <a:ext cx="784027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02</a:t>
            </a:r>
            <a:endParaRPr lang="en-US" sz="2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728" y="2645866"/>
            <a:ext cx="375047" cy="428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25628" y="2521214"/>
            <a:ext cx="6589747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2125628" y="2848040"/>
            <a:ext cx="65897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AES-128 mesh encryption for all wireless data transmission between ESP32 nodes, protecting the network from eavesdropping and packet injection.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28625" y="3860304"/>
            <a:ext cx="75397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03</a:t>
            </a:r>
            <a:endParaRPr lang="en-US" sz="2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857" y="3860304"/>
            <a:ext cx="428625" cy="4286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071520" y="3735651"/>
            <a:ext cx="6643827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Firewall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2071520" y="4062478"/>
            <a:ext cx="664382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UFW (Uncomplicated Firewall) configuration on the Raspberry Pi edge hub to restrict access to essential ports (1883, 1880, 8000) and block all other traffic.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FFCC">
              <a:alpha val="5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4864894"/>
            <a:ext cx="135731" cy="128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1513" y="4847034"/>
            <a:ext cx="433089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DEFENSE-IN-DEPTH: INDUSTRIAL-GRADE STABILITY &amp; PROTECTION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VISUALIZATION &amp; MONITORING RESULTS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4" y="1000125"/>
            <a:ext cx="4143375" cy="2500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54634" y="3607594"/>
            <a:ext cx="179129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Fuxa SCADA (Local HMI)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68771" y="3845123"/>
            <a:ext cx="416302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0E1D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process visualization and supervisory control on the local network.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1000125"/>
            <a:ext cx="4143375" cy="25003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29325" y="3607594"/>
            <a:ext cx="17287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C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Chronograf (Analytics)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147965" y="3845123"/>
            <a:ext cx="349150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0E1D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Time-series data exploration and historical analysis via InfluxDB.</a:t>
            </a:r>
            <a:endParaRPr lang="en-US" sz="850" dirty="0"/>
          </a:p>
        </p:txBody>
      </p:sp>
      <p:sp>
        <p:nvSpPr>
          <p:cNvPr id="10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F3366">
              <a:alpha val="10000"/>
            </a:srgbClr>
          </a:solidFill>
          <a:ln/>
        </p:spPr>
      </p:sp>
      <p:sp>
        <p:nvSpPr>
          <p:cNvPr id="11" name="Shape 6"/>
          <p:cNvSpPr/>
          <p:nvPr/>
        </p:nvSpPr>
        <p:spPr>
          <a:xfrm>
            <a:off x="0" y="4572000"/>
            <a:ext cx="9144000" cy="14288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2" name="Text 7"/>
          <p:cNvSpPr/>
          <p:nvPr/>
        </p:nvSpPr>
        <p:spPr>
          <a:xfrm>
            <a:off x="1144786" y="4696123"/>
            <a:ext cx="69830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&lt;200ms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44786" y="4914007"/>
            <a:ext cx="69830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7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LATENCY</a:t>
            </a:r>
            <a:endParaRPr lang="en-US" sz="600" dirty="0"/>
          </a:p>
        </p:txBody>
      </p:sp>
      <p:sp>
        <p:nvSpPr>
          <p:cNvPr id="14" name="Text 9"/>
          <p:cNvSpPr/>
          <p:nvPr/>
        </p:nvSpPr>
        <p:spPr>
          <a:xfrm>
            <a:off x="4132659" y="4696123"/>
            <a:ext cx="94476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100%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132659" y="4914007"/>
            <a:ext cx="944761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7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UPTIME (TEST PHASE)</a:t>
            </a:r>
            <a:endParaRPr lang="en-US" sz="600" dirty="0"/>
          </a:p>
        </p:txBody>
      </p:sp>
      <p:sp>
        <p:nvSpPr>
          <p:cNvPr id="16" name="Text 11"/>
          <p:cNvSpPr/>
          <p:nvPr/>
        </p:nvSpPr>
        <p:spPr>
          <a:xfrm>
            <a:off x="7366992" y="4696123"/>
            <a:ext cx="63222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5+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366992" y="4914007"/>
            <a:ext cx="63222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47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NODES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47A8B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0" y="1000125"/>
            <a:ext cx="4572000" cy="4143375"/>
          </a:xfrm>
          <a:prstGeom prst="rect">
            <a:avLst/>
          </a:prstGeom>
          <a:solidFill>
            <a:srgbClr val="47A8BD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557713" y="1000125"/>
            <a:ext cx="14288" cy="4143375"/>
          </a:xfrm>
          <a:prstGeom prst="rect">
            <a:avLst/>
          </a:prstGeom>
          <a:solidFill>
            <a:srgbClr val="CCFFF5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759902"/>
            <a:ext cx="3714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200" b="1" dirty="0">
                <a:solidFill>
                  <a:srgbClr val="00FF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Edge-Mesh SCADA</a:t>
            </a:r>
            <a:r>
              <a:rPr lang="en-US" sz="12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project successfully </a:t>
            </a:r>
            <a:r>
              <a:rPr lang="en-US" sz="12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demonstrates a viable, </a:t>
            </a:r>
            <a:r>
              <a:rPr lang="en-US" sz="1200" b="1" dirty="0">
                <a:solidFill>
                  <a:srgbClr val="00FF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low-cost Industry 4.0 </a:t>
            </a:r>
            <a:r>
              <a:rPr lang="en-US" sz="1200" b="1" dirty="0">
                <a:solidFill>
                  <a:srgbClr val="00FF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retrofit</a:t>
            </a:r>
            <a:r>
              <a:rPr lang="en-US" sz="12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SMEs.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28625" y="2797141"/>
            <a:ext cx="37147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integrating </a:t>
            </a:r>
            <a:r>
              <a:rPr lang="en-US" sz="1200" b="1" dirty="0">
                <a:solidFill>
                  <a:srgbClr val="00FF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commodity hardware</a:t>
            </a:r>
            <a:r>
              <a:rPr lang="en-US" sz="12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r>
              <a:rPr lang="en-US" sz="1200" b="1" dirty="0">
                <a:solidFill>
                  <a:srgbClr val="00FF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software</a:t>
            </a:r>
            <a:r>
              <a:rPr lang="en-US" sz="12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we have bridged the </a:t>
            </a:r>
            <a:r>
              <a:rPr lang="en-US" sz="12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between legacy industrial infrastructure </a:t>
            </a:r>
            <a:r>
              <a:rPr lang="en-US" sz="1250" dirty="0">
                <a:solidFill>
                  <a:srgbClr val="E0E1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modern smart factory capabilities.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4206915"/>
            <a:ext cx="285750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00625" y="1516261"/>
            <a:ext cx="37147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336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FUTURE ROADMAP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998464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86375" y="1948458"/>
            <a:ext cx="3429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Predictive Maintenance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286375" y="2139553"/>
            <a:ext cx="3429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0E1D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machine learning models on the edge to predict equipment failure using historical time-series data.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2668191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86375" y="2618184"/>
            <a:ext cx="3429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Remote Access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5286375" y="2809280"/>
            <a:ext cx="3429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0E1D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Transitioning from ngrok free tier to a static domain or self-hosted VPN tunnel for persistent remote monitoring.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3337917"/>
            <a:ext cx="125016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68516" y="3287911"/>
            <a:ext cx="344685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Mesh Network Expansion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5268516" y="3479006"/>
            <a:ext cx="34468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0E1D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the ESP-MESH topology to cover larger factory floor areas with increased node density and reliability.</a:t>
            </a:r>
            <a:endParaRPr lang="en-US" sz="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4007644"/>
            <a:ext cx="178594" cy="1428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22094" y="3957638"/>
            <a:ext cx="33932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A8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Integration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5322094" y="4148733"/>
            <a:ext cx="339328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0E1D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Expanding support for industrial communication standards including Modbus TCP, OPC-UA, and EtherCAT.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2026-04-26T09:16:20Z</dcterms:created>
  <dcterms:modified xsi:type="dcterms:W3CDTF">2026-04-26T09:16:20Z</dcterms:modified>
</cp:coreProperties>
</file>